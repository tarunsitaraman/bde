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Predictive ATM Cash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• using Big Data Analytics (Apache Spark / PySpark MLlib)</a:t>
            </a:r>
          </a:p>
          <a:p>
            <a:pPr>
              <a:spcAft>
                <a:spcPts val="900"/>
              </a:spcAft>
              <a:defRPr sz="1700"/>
            </a:pPr>
            <a:r>
              <a:t>• Classification: High vs Low demand  •  Clustering: Low / Medium / High ATM tiers</a:t>
            </a:r>
          </a:p>
          <a:p>
            <a:pPr>
              <a:spcAft>
                <a:spcPts val="900"/>
              </a:spcAft>
              <a:defRPr sz="1700"/>
            </a:pPr>
            <a:r>
              <a:t>• Code: https://github.com/TarunSitaraman/bde/tree/claude/ecstatic-johnson-b4ik3x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Problem &amp;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• Cash-outs hurt customers; over-stocking ties up capital → forecast demand per ATM</a:t>
            </a:r>
          </a:p>
          <a:p>
            <a:pPr>
              <a:spcAft>
                <a:spcPts val="900"/>
              </a:spcAft>
              <a:defRPr sz="1700"/>
            </a:pPr>
            <a:r>
              <a:t>• Data: 219,300 daily records • 300 ATMs • 2 years • 7 location types (synthetic, seed 42)</a:t>
            </a:r>
          </a:p>
          <a:p>
            <a:pPr>
              <a:spcAft>
                <a:spcPts val="900"/>
              </a:spcAft>
              <a:defRPr sz="1700"/>
            </a:pPr>
            <a:r>
              <a:t>• Fields: withdrawal ₹, txn count, failures, weekend / payday / festival flags</a:t>
            </a:r>
          </a:p>
          <a:p>
            <a:pPr>
              <a:spcAft>
                <a:spcPts val="900"/>
              </a:spcAft>
              <a:defRPr sz="1700"/>
            </a:pPr>
            <a:r>
              <a:t>• Spark: group-by roll-ups, window lags, rolling stats, MLlib pipelines (scales to billions of rows)</a:t>
            </a:r>
          </a:p>
          <a:p>
            <a:pPr>
              <a:spcAft>
                <a:spcPts val="900"/>
              </a:spcAft>
              <a:defRPr sz="1700"/>
            </a:pPr>
            <a:r>
              <a:t>• Task 1 – classify next-week demand High/Low;  Task 2 – cluster ATMs into 3 tiers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Model Selection &amp; Justification (1 mark)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• Classification: compared Logistic Regression, Random Forest, GBT on time-based split (no future leakage)</a:t>
            </a:r>
          </a:p>
          <a:p>
            <a:pPr>
              <a:spcAft>
                <a:spcPts val="900"/>
              </a:spcAft>
              <a:defRPr sz="1700"/>
            </a:pPr>
            <a:r>
              <a:t>• Winner: Logistic Regression – best AUC (0.994); simple, fast, explainable; trees ≈ equal</a:t>
            </a:r>
          </a:p>
          <a:p>
            <a:pPr>
              <a:spcAft>
                <a:spcPts val="900"/>
              </a:spcAft>
              <a:defRPr sz="1700"/>
            </a:pPr>
            <a:r>
              <a:t>• Clustering: K-Means k=3 on log-scaled volume features</a:t>
            </a:r>
          </a:p>
          <a:p>
            <a:pPr>
              <a:spcAft>
                <a:spcPts val="900"/>
              </a:spcAft>
              <a:defRPr sz="1700"/>
            </a:pPr>
            <a:r>
              <a:t>• k=3 = business tiers; silhouette 0.67; beats Gaussian Mixture (0.39)</a:t>
            </a:r>
          </a:p>
          <a:p>
            <a:pPr>
              <a:spcAft>
                <a:spcPts val="900"/>
              </a:spcAft>
              <a:defRPr sz="1700"/>
            </a:pPr>
            <a:r>
              <a:t>• Log transform fixes skew: raw K-Means gave tiers of 193 / 102 / 5 ATMs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Coding &amp; Implementation – Classification (2 marks)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8521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• Weekly aggregation of daily data in Spark</a:t>
            </a:r>
          </a:p>
          <a:p>
            <a:pPr>
              <a:spcAft>
                <a:spcPts val="900"/>
              </a:spcAft>
              <a:defRPr sz="1700"/>
            </a:pPr>
            <a:r>
              <a:t>• Lag-1/2, 4-wk rolling mean/std via Window functions (past only)</a:t>
            </a:r>
          </a:p>
          <a:p>
            <a:pPr>
              <a:spcAft>
                <a:spcPts val="900"/>
              </a:spcAft>
              <a:defRPr sz="1700"/>
            </a:pPr>
            <a:r>
              <a:t>• Calendar features: payday days, festival days, week-of-year sin/cos</a:t>
            </a:r>
          </a:p>
          <a:p>
            <a:pPr>
              <a:spcAft>
                <a:spcPts val="900"/>
              </a:spcAft>
              <a:defRPr sz="1700"/>
            </a:pPr>
            <a:r>
              <a:t>• Label threshold = train median (₹1.43M/week)</a:t>
            </a:r>
          </a:p>
          <a:p>
            <a:pPr>
              <a:spcAft>
                <a:spcPts val="900"/>
              </a:spcAft>
              <a:defRPr sz="1700"/>
            </a:pPr>
            <a:r>
              <a:t>• Spark ML Pipeline: StringIndexer → OneHot → Assembler → Scaler → classifier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5486400" cy="5303520"/>
          </a:xfrm>
          <a:prstGeom prst="rect">
            <a:avLst/>
          </a:prstGeom>
          <a:solidFill>
            <a:srgbClr val="F3F4F6"/>
          </a:solidFill>
        </p:spPr>
        <p:txBody>
          <a:bodyPr wrap="square">
            <a:spAutoFit/>
          </a:bodyPr>
          <a:lstStyle/>
          <a:p>
            <a:pPr>
              <a:defRPr sz="1200">
                <a:latin typeface="Consolas"/>
              </a:defRPr>
            </a:pPr>
            <a:r>
              <a:t>w = Window.partitionBy('atm_id').orderBy('week')</a:t>
            </a:r>
          </a:p>
          <a:p>
            <a:pPr>
              <a:defRPr sz="1200">
                <a:latin typeface="Consolas"/>
              </a:defRPr>
            </a:pPr>
            <a:r>
              <a:t>w4 = w.rowsBetween(-4, -1)</a:t>
            </a:r>
          </a:p>
          <a:p>
            <a:pPr>
              <a:defRPr sz="1200">
                <a:latin typeface="Consolas"/>
              </a:defRPr>
            </a:pPr>
          </a:p>
          <a:p>
            <a:pPr>
              <a:defRPr sz="1200">
                <a:latin typeface="Consolas"/>
              </a:defRPr>
            </a:pPr>
            <a:r>
              <a:t>feat = (weekly</a:t>
            </a:r>
          </a:p>
          <a:p>
            <a:pPr>
              <a:defRPr sz="1200">
                <a:latin typeface="Consolas"/>
              </a:defRPr>
            </a:pPr>
            <a:r>
              <a:t>  .withColumn('lag1_wd', F.lag('wd',1).over(w))</a:t>
            </a:r>
          </a:p>
          <a:p>
            <a:pPr>
              <a:defRPr sz="1200">
                <a:latin typeface="Consolas"/>
              </a:defRPr>
            </a:pPr>
            <a:r>
              <a:t>  .withColumn('roll4_wd', F.avg('wd').over(w4))</a:t>
            </a:r>
          </a:p>
          <a:p>
            <a:pPr>
              <a:defRPr sz="1200">
                <a:latin typeface="Consolas"/>
              </a:defRPr>
            </a:pPr>
            <a:r>
              <a:t>  .withColumn('woy_sin', F.sin(2*pi*woy/52)))</a:t>
            </a:r>
          </a:p>
          <a:p>
            <a:pPr>
              <a:defRPr sz="1200">
                <a:latin typeface="Consolas"/>
              </a:defRPr>
            </a:pPr>
          </a:p>
          <a:p>
            <a:pPr>
              <a:defRPr sz="1200">
                <a:latin typeface="Consolas"/>
              </a:defRPr>
            </a:pPr>
            <a:r>
              <a:t>thr = train.approxQuantile('wd',[.5],.001)[0]</a:t>
            </a:r>
          </a:p>
          <a:p>
            <a:pPr>
              <a:defRPr sz="1200">
                <a:latin typeface="Consolas"/>
              </a:defRPr>
            </a:pPr>
            <a:r>
              <a:t>label = (F.col('wd') &gt; thr).cast('double')</a:t>
            </a:r>
          </a:p>
          <a:p>
            <a:pPr>
              <a:defRPr sz="1200">
                <a:latin typeface="Consolas"/>
              </a:defRPr>
            </a:pPr>
          </a:p>
          <a:p>
            <a:pPr>
              <a:defRPr sz="1200">
                <a:latin typeface="Consolas"/>
              </a:defRPr>
            </a:pPr>
            <a:r>
              <a:t>Pipeline(stages=[indexer, onehot,</a:t>
            </a:r>
          </a:p>
          <a:p>
            <a:pPr>
              <a:defRPr sz="1200">
                <a:latin typeface="Consolas"/>
              </a:defRPr>
            </a:pPr>
            <a:r>
              <a:t>   assembler, scaler, LogisticRegression()])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Coding &amp; Implementation –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8521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• ATM-level profile via Spark groupBy (one row per ATM)</a:t>
            </a:r>
          </a:p>
          <a:p>
            <a:pPr>
              <a:spcAft>
                <a:spcPts val="900"/>
              </a:spcAft>
              <a:defRPr sz="1700"/>
            </a:pPr>
            <a:r>
              <a:t>• Features: avg, P90 daily withdrawal, avg daily txns → log1p → StandardScaler</a:t>
            </a:r>
          </a:p>
          <a:p>
            <a:pPr>
              <a:spcAft>
                <a:spcPts val="900"/>
              </a:spcAft>
              <a:defRPr sz="1700"/>
            </a:pPr>
            <a:r>
              <a:t>• Elbow + silhouette for k=2..7; final KMeans k=3</a:t>
            </a:r>
          </a:p>
          <a:p>
            <a:pPr>
              <a:spcAft>
                <a:spcPts val="900"/>
              </a:spcAft>
              <a:defRPr sz="1700"/>
            </a:pPr>
            <a:r>
              <a:t>• Tiers named by ranking cluster mean withdrawal</a:t>
            </a:r>
          </a:p>
          <a:p>
            <a:pPr>
              <a:spcAft>
                <a:spcPts val="900"/>
              </a:spcAft>
              <a:defRPr sz="1700"/>
            </a:pPr>
            <a:r>
              <a:t>• Other metrics (CV, payday uplift…) used only to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5486400" cy="5303520"/>
          </a:xfrm>
          <a:prstGeom prst="rect">
            <a:avLst/>
          </a:prstGeom>
          <a:solidFill>
            <a:srgbClr val="F3F4F6"/>
          </a:solidFill>
        </p:spPr>
        <p:txBody>
          <a:bodyPr wrap="square">
            <a:spAutoFit/>
          </a:bodyPr>
          <a:lstStyle/>
          <a:p>
            <a:pPr>
              <a:defRPr sz="1200">
                <a:latin typeface="Consolas"/>
              </a:defRPr>
            </a:pPr>
            <a:r>
              <a:t>prof = daily.groupBy('atm_id').agg(</a:t>
            </a:r>
          </a:p>
          <a:p>
            <a:pPr>
              <a:defRPr sz="1200">
                <a:latin typeface="Consolas"/>
              </a:defRPr>
            </a:pPr>
            <a:r>
              <a:t>  avg('total_withdrawal'),</a:t>
            </a:r>
          </a:p>
          <a:p>
            <a:pPr>
              <a:defRPr sz="1200">
                <a:latin typeface="Consolas"/>
              </a:defRPr>
            </a:pPr>
            <a:r>
              <a:t>  percentile_approx(..., 0.9),</a:t>
            </a:r>
          </a:p>
          <a:p>
            <a:pPr>
              <a:defRPr sz="1200">
                <a:latin typeface="Consolas"/>
              </a:defRPr>
            </a:pPr>
            <a:r>
              <a:t>  avg('tx_count'))</a:t>
            </a:r>
          </a:p>
          <a:p>
            <a:pPr>
              <a:defRPr sz="1200">
                <a:latin typeface="Consolas"/>
              </a:defRPr>
            </a:pPr>
          </a:p>
          <a:p>
            <a:pPr>
              <a:defRPr sz="1200">
                <a:latin typeface="Consolas"/>
              </a:defRPr>
            </a:pPr>
            <a:r>
              <a:t># log1p -&gt; StandardScaler</a:t>
            </a:r>
          </a:p>
          <a:p>
            <a:pPr>
              <a:defRPr sz="1200">
                <a:latin typeface="Consolas"/>
              </a:defRPr>
            </a:pPr>
            <a:r>
              <a:t>for k in range(2, 8):</a:t>
            </a:r>
          </a:p>
          <a:p>
            <a:pPr>
              <a:defRPr sz="1200">
                <a:latin typeface="Consolas"/>
              </a:defRPr>
            </a:pPr>
            <a:r>
              <a:t>    KMeans(k=k).fit(data)  # elbow+silhouette</a:t>
            </a:r>
          </a:p>
          <a:p>
            <a:pPr>
              <a:defRPr sz="1200">
                <a:latin typeface="Consolas"/>
              </a:defRPr>
            </a:pPr>
          </a:p>
          <a:p>
            <a:pPr>
              <a:defRPr sz="1200">
                <a:latin typeface="Consolas"/>
              </a:defRPr>
            </a:pPr>
            <a:r>
              <a:t>km = KMeans(k=3, seed=11).fit(data)</a:t>
            </a:r>
          </a:p>
          <a:p>
            <a:pPr>
              <a:defRPr sz="1200">
                <a:latin typeface="Consolas"/>
              </a:defRPr>
            </a:pPr>
            <a:r>
              <a:t># rank clusters by mean withdrawal</a:t>
            </a:r>
          </a:p>
          <a:p>
            <a:pPr>
              <a:defRPr sz="1200">
                <a:latin typeface="Consolas"/>
              </a:defRPr>
            </a:pPr>
            <a:r>
              <a:t># -&gt; Low / Medium / High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Results – Classification (1 mark)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8521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• Logistic Regression: acc 95.8%, AUC 0.994</a:t>
            </a:r>
          </a:p>
          <a:p>
            <a:pPr>
              <a:spcAft>
                <a:spcPts val="900"/>
              </a:spcAft>
              <a:defRPr sz="1700"/>
            </a:pPr>
            <a:r>
              <a:t>• Random Forest: acc 95.1%, AUC 0.992</a:t>
            </a:r>
          </a:p>
          <a:p>
            <a:pPr>
              <a:spcAft>
                <a:spcPts val="900"/>
              </a:spcAft>
              <a:defRPr sz="1700"/>
            </a:pPr>
            <a:r>
              <a:t>• Gradient-Boosted Trees: acc 95.1%, AUC 0.992</a:t>
            </a:r>
          </a:p>
          <a:p>
            <a:pPr>
              <a:spcAft>
                <a:spcPts val="900"/>
              </a:spcAft>
              <a:defRPr sz="1700"/>
            </a:pPr>
            <a:r>
              <a:t>• Baseline (repeat last week): 90.6%</a:t>
            </a:r>
          </a:p>
          <a:p>
            <a:pPr>
              <a:spcAft>
                <a:spcPts val="900"/>
              </a:spcAft>
              <a:defRPr sz="1700"/>
            </a:pPr>
            <a:r>
              <a:t>• High-class recall 95.7%, precision 96.4%</a:t>
            </a:r>
          </a:p>
        </p:txBody>
      </p:sp>
      <p:pic>
        <p:nvPicPr>
          <p:cNvPr id="5" name="Picture 4" descr="classification_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5577840" cy="21297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Results –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8521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• Low: 81 ATMs, ₹96k/day</a:t>
            </a:r>
          </a:p>
          <a:p>
            <a:pPr>
              <a:spcAft>
                <a:spcPts val="900"/>
              </a:spcAft>
              <a:defRPr sz="1700"/>
            </a:pPr>
            <a:r>
              <a:t>• Medium: 114 ATMs, ₹198k/day</a:t>
            </a:r>
          </a:p>
          <a:p>
            <a:pPr>
              <a:spcAft>
                <a:spcPts val="900"/>
              </a:spcAft>
              <a:defRPr sz="1700"/>
            </a:pPr>
            <a:r>
              <a:t>• High: 105 ATMs, ₹406k/day</a:t>
            </a:r>
          </a:p>
          <a:p>
            <a:pPr>
              <a:spcAft>
                <a:spcPts val="900"/>
              </a:spcAft>
              <a:defRPr sz="1700"/>
            </a:pPr>
            <a:r>
              <a:t>• Silhouette 0.67</a:t>
            </a:r>
          </a:p>
        </p:txBody>
      </p:sp>
      <p:pic>
        <p:nvPicPr>
          <p:cNvPr id="5" name="Picture 4" descr="clustering_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5577840" cy="15617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Analysis &amp; 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• Classifier beats naive baseline by 5.2 pts; recent withdrawals drive ~88% of importance</a:t>
            </a:r>
          </a:p>
          <a:p>
            <a:pPr>
              <a:spcAft>
                <a:spcPts val="900"/>
              </a:spcAft>
              <a:defRPr sz="1700"/>
            </a:pPr>
            <a:r>
              <a:t>• Missed high-demand weeks = 4.3% → tune threshold to cut stock-out risk</a:t>
            </a:r>
          </a:p>
          <a:p>
            <a:pPr>
              <a:spcAft>
                <a:spcPts val="900"/>
              </a:spcAft>
              <a:defRPr sz="1700"/>
            </a:pPr>
            <a:r>
              <a:t>• High tier needs ~4.2× the cash of Low; malls/transit/branches are mostly High</a:t>
            </a:r>
          </a:p>
          <a:p>
            <a:pPr>
              <a:spcAft>
                <a:spcPts val="900"/>
              </a:spcAft>
              <a:defRPr sz="1700"/>
            </a:pPr>
            <a:r>
              <a:t>• Low-demand ATMs show strongest payday spike → add month-end top-ups</a:t>
            </a:r>
          </a:p>
          <a:p>
            <a:pPr>
              <a:spcAft>
                <a:spcPts val="900"/>
              </a:spcAft>
              <a:defRPr sz="1700"/>
            </a:pPr>
            <a:r>
              <a:t>• Combined policy: tier sets baseline schedule, weekly classifier adjusts it</a:t>
            </a:r>
          </a:p>
          <a:p>
            <a:pPr>
              <a:spcAft>
                <a:spcPts val="900"/>
              </a:spcAft>
              <a:defRPr sz="1700"/>
            </a:pPr>
            <a:r>
              <a:t>• Limitation: synthetic data – re-validate on real bank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• Code, results and report: https://github.com/TarunSitaraman/bde/tree/claude/ecstatic-johnson-b4ik3x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